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14630400" cy="8229600"/>
  <p:notesSz cx="8229600" cy="14630400"/>
  <p:embeddedFontLst>
    <p:embeddedFont>
      <p:font typeface="Inter" panose="020B0604020202020204" charset="0"/>
      <p:regular r:id="rId14"/>
      <p:bold r:id="rId15"/>
      <p:italic r:id="rId16"/>
      <p:boldItalic r:id="rId17"/>
    </p:embeddedFont>
  </p:embeddedFontLst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4045E1-1F4F-43D1-8400-38668BEAEF0E}" v="1" dt="2026-05-11T10:35:58.3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1E9E03C1-E5D4-4BEC-8EBD-C4DD5262B379}"/>
    <pc:docChg chg="undo custSel modSld">
      <pc:chgData name="Leila Iñigo de la Cruz" userId="fae4ed0d-52e1-4e8b-ac73-77e0b7235c9a" providerId="ADAL" clId="{1E9E03C1-E5D4-4BEC-8EBD-C4DD5262B379}" dt="2026-05-11T10:42:02.050" v="44" actId="1035"/>
      <pc:docMkLst>
        <pc:docMk/>
      </pc:docMkLst>
      <pc:sldChg chg="addSp delSp modSp mod">
        <pc:chgData name="Leila Iñigo de la Cruz" userId="fae4ed0d-52e1-4e8b-ac73-77e0b7235c9a" providerId="ADAL" clId="{1E9E03C1-E5D4-4BEC-8EBD-C4DD5262B379}" dt="2026-05-07T06:42:23.681" v="1" actId="21"/>
        <pc:sldMkLst>
          <pc:docMk/>
          <pc:sldMk cId="0" sldId="257"/>
        </pc:sldMkLst>
      </pc:sldChg>
      <pc:sldChg chg="modSp mod">
        <pc:chgData name="Leila Iñigo de la Cruz" userId="fae4ed0d-52e1-4e8b-ac73-77e0b7235c9a" providerId="ADAL" clId="{1E9E03C1-E5D4-4BEC-8EBD-C4DD5262B379}" dt="2026-05-11T09:13:14.858" v="16" actId="1038"/>
        <pc:sldMkLst>
          <pc:docMk/>
          <pc:sldMk cId="0" sldId="258"/>
        </pc:sldMkLst>
        <pc:spChg chg="mod">
          <ac:chgData name="Leila Iñigo de la Cruz" userId="fae4ed0d-52e1-4e8b-ac73-77e0b7235c9a" providerId="ADAL" clId="{1E9E03C1-E5D4-4BEC-8EBD-C4DD5262B379}" dt="2026-05-11T09:12:57.638" v="5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09:12:54.688" v="4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09:12:54.688" v="4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09:12:54.688" v="4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09:13:06.708" v="6" actId="1076"/>
          <ac:spMkLst>
            <pc:docMk/>
            <pc:sldMk cId="0" sldId="258"/>
            <ac:spMk id="13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09:13:10.685" v="7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09:13:14.858" v="16" actId="1038"/>
          <ac:spMkLst>
            <pc:docMk/>
            <pc:sldMk cId="0" sldId="258"/>
            <ac:spMk id="15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09:13:14.858" v="16" actId="1038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Leila Iñigo de la Cruz" userId="fae4ed0d-52e1-4e8b-ac73-77e0b7235c9a" providerId="ADAL" clId="{1E9E03C1-E5D4-4BEC-8EBD-C4DD5262B379}" dt="2026-05-11T10:42:02.050" v="44" actId="1035"/>
        <pc:sldMkLst>
          <pc:docMk/>
          <pc:sldMk cId="0" sldId="261"/>
        </pc:sldMkLst>
        <pc:spChg chg="mod">
          <ac:chgData name="Leila Iñigo de la Cruz" userId="fae4ed0d-52e1-4e8b-ac73-77e0b7235c9a" providerId="ADAL" clId="{1E9E03C1-E5D4-4BEC-8EBD-C4DD5262B379}" dt="2026-05-11T10:35:58.330" v="17" actId="20578"/>
          <ac:spMkLst>
            <pc:docMk/>
            <pc:sldMk cId="0" sldId="261"/>
            <ac:spMk id="6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10:42:02.050" v="44" actId="1035"/>
          <ac:spMkLst>
            <pc:docMk/>
            <pc:sldMk cId="0" sldId="261"/>
            <ac:spMk id="9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10:42:02.050" v="44" actId="1035"/>
          <ac:spMkLst>
            <pc:docMk/>
            <pc:sldMk cId="0" sldId="261"/>
            <ac:spMk id="11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10:42:02.050" v="44" actId="1035"/>
          <ac:spMkLst>
            <pc:docMk/>
            <pc:sldMk cId="0" sldId="261"/>
            <ac:spMk id="12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10:42:02.050" v="44" actId="1035"/>
          <ac:spMkLst>
            <pc:docMk/>
            <pc:sldMk cId="0" sldId="261"/>
            <ac:spMk id="14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10:42:02.050" v="44" actId="1035"/>
          <ac:spMkLst>
            <pc:docMk/>
            <pc:sldMk cId="0" sldId="261"/>
            <ac:spMk id="15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10:42:02.050" v="44" actId="1035"/>
          <ac:spMkLst>
            <pc:docMk/>
            <pc:sldMk cId="0" sldId="261"/>
            <ac:spMk id="17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10:42:02.050" v="44" actId="1035"/>
          <ac:spMkLst>
            <pc:docMk/>
            <pc:sldMk cId="0" sldId="261"/>
            <ac:spMk id="19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5-11T10:42:02.050" v="44" actId="1035"/>
          <ac:spMkLst>
            <pc:docMk/>
            <pc:sldMk cId="0" sldId="261"/>
            <ac:spMk id="2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8680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337197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IIIF for Researchers in the Natural and Engineering Sciences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803696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International Image Interoperability Framework is evolving from a cultural heritage standard into a practical research infrastructure for data-intensive science.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67807" y="653534"/>
            <a:ext cx="6731556" cy="697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50"/>
              </a:lnSpc>
              <a:buNone/>
            </a:pPr>
            <a:r>
              <a:rPr lang="en-US" sz="4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IIIF at 4TU.ResearchData</a:t>
            </a:r>
            <a:endParaRPr lang="en-US" sz="4350" dirty="0"/>
          </a:p>
        </p:txBody>
      </p:sp>
      <p:sp>
        <p:nvSpPr>
          <p:cNvPr id="4" name="Text 1"/>
          <p:cNvSpPr/>
          <p:nvPr/>
        </p:nvSpPr>
        <p:spPr>
          <a:xfrm>
            <a:off x="6267807" y="1680924"/>
            <a:ext cx="7581186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Since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 2025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4TU.RD has been a production IIIF-enabled repository—built on the Djehuty Python backend. Three core components power the implementation: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6267807" y="2991088"/>
            <a:ext cx="3680698" cy="2714030"/>
          </a:xfrm>
          <a:prstGeom prst="roundRect">
            <a:avLst>
              <a:gd name="adj" fmla="val 345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6" name="Text 3"/>
          <p:cNvSpPr/>
          <p:nvPr/>
        </p:nvSpPr>
        <p:spPr>
          <a:xfrm>
            <a:off x="6498669" y="3221950"/>
            <a:ext cx="279094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IIIF Image API</a:t>
            </a:r>
            <a:endParaRPr lang="en-US" sz="2150" dirty="0"/>
          </a:p>
        </p:txBody>
      </p:sp>
      <p:sp>
        <p:nvSpPr>
          <p:cNvPr id="7" name="Text 4"/>
          <p:cNvSpPr/>
          <p:nvPr/>
        </p:nvSpPr>
        <p:spPr>
          <a:xfrm>
            <a:off x="6498669" y="3702606"/>
            <a:ext cx="321897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On-demand delivery of image regions, thumbnails, and scaled resolutions—no full-file download required.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10168295" y="2991088"/>
            <a:ext cx="3680698" cy="2714030"/>
          </a:xfrm>
          <a:prstGeom prst="roundRect">
            <a:avLst>
              <a:gd name="adj" fmla="val 345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9" name="Text 6"/>
          <p:cNvSpPr/>
          <p:nvPr/>
        </p:nvSpPr>
        <p:spPr>
          <a:xfrm>
            <a:off x="10399157" y="3221950"/>
            <a:ext cx="2790944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IIIF Presentation API</a:t>
            </a:r>
            <a:endParaRPr lang="en-US" sz="2150" dirty="0"/>
          </a:p>
        </p:txBody>
      </p:sp>
      <p:sp>
        <p:nvSpPr>
          <p:cNvPr id="10" name="Text 7"/>
          <p:cNvSpPr/>
          <p:nvPr/>
        </p:nvSpPr>
        <p:spPr>
          <a:xfrm>
            <a:off x="10399157" y="3702606"/>
            <a:ext cx="3218974" cy="1771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 manifests that describe datasets, sequences, and associated metadata for discovery and reuse.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6267807" y="5924907"/>
            <a:ext cx="7581186" cy="1651040"/>
          </a:xfrm>
          <a:prstGeom prst="roundRect">
            <a:avLst>
              <a:gd name="adj" fmla="val 5680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2" name="Text 9"/>
          <p:cNvSpPr/>
          <p:nvPr/>
        </p:nvSpPr>
        <p:spPr>
          <a:xfrm>
            <a:off x="6498669" y="6155769"/>
            <a:ext cx="3571042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Python Backend (Djehuty)</a:t>
            </a:r>
            <a:endParaRPr lang="en-US" sz="2150" dirty="0"/>
          </a:p>
        </p:txBody>
      </p:sp>
      <p:sp>
        <p:nvSpPr>
          <p:cNvPr id="13" name="Text 10"/>
          <p:cNvSpPr/>
          <p:nvPr/>
        </p:nvSpPr>
        <p:spPr>
          <a:xfrm>
            <a:off x="6498669" y="6636425"/>
            <a:ext cx="7119461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integration with the repository's API layer, enabling programmatic manifest generation and enrichment.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6835" y="311825"/>
            <a:ext cx="403502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Metadata Alignment Gap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96835" y="3866198"/>
            <a:ext cx="6780014" cy="13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Repository metadata is rich—but IIIF manifests don't reflect it. This misalignment limits downstream reuse.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96835" y="4065984"/>
            <a:ext cx="6780014" cy="464820"/>
          </a:xfrm>
          <a:prstGeom prst="roundRect">
            <a:avLst>
              <a:gd name="adj" fmla="val 10248"/>
            </a:avLst>
          </a:prstGeom>
          <a:solidFill>
            <a:srgbClr val="FCF2B5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83" y="4207669"/>
            <a:ext cx="141684" cy="1133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5215" y="4150995"/>
            <a:ext cx="6298287" cy="272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two layers are </a:t>
            </a:r>
            <a:r>
              <a:rPr lang="en-US" sz="8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aligned</a:t>
            </a: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—repositories impose a single interpretation of what is "relevant," but relevance is use-case dependent.</a:t>
            </a:r>
            <a:endParaRPr lang="en-US" sz="8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171" y="814864"/>
            <a:ext cx="6780014" cy="6780014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171" y="814864"/>
            <a:ext cx="6780014" cy="678001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474" y="5759911"/>
            <a:ext cx="6890028" cy="916067"/>
          </a:xfrm>
          <a:prstGeom prst="roundRect">
            <a:avLst>
              <a:gd name="adj" fmla="val 7985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5"/>
          <p:cNvSpPr/>
          <p:nvPr/>
        </p:nvSpPr>
        <p:spPr>
          <a:xfrm>
            <a:off x="442555" y="5759911"/>
            <a:ext cx="60960" cy="916067"/>
          </a:xfrm>
          <a:prstGeom prst="roundRect">
            <a:avLst>
              <a:gd name="adj" fmla="val 78139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11" name="Text 6"/>
          <p:cNvSpPr/>
          <p:nvPr/>
        </p:nvSpPr>
        <p:spPr>
          <a:xfrm>
            <a:off x="632103" y="5888498"/>
            <a:ext cx="1868924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IIIF Manifests Expose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632103" y="6099596"/>
            <a:ext cx="6587133" cy="44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05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Minimal descriptive metadata</a:t>
            </a:r>
            <a:endParaRPr lang="en-US" sz="850" dirty="0"/>
          </a:p>
          <a:p>
            <a:pPr marL="342900" indent="-342900" algn="l">
              <a:lnSpc>
                <a:spcPts val="105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image info only</a:t>
            </a:r>
            <a:endParaRPr lang="en-US" sz="850" dirty="0"/>
          </a:p>
          <a:p>
            <a:pPr marL="342900" indent="-342900" algn="l">
              <a:lnSpc>
                <a:spcPts val="105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Fixed, generic field projection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296108" y="6977268"/>
            <a:ext cx="6890028" cy="916067"/>
          </a:xfrm>
          <a:prstGeom prst="roundRect">
            <a:avLst>
              <a:gd name="adj" fmla="val 7985"/>
            </a:avLst>
          </a:prstGeom>
          <a:solidFill>
            <a:srgbClr val="FFFFFF"/>
          </a:solidFill>
          <a:ln w="1524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Shape 9"/>
          <p:cNvSpPr/>
          <p:nvPr/>
        </p:nvSpPr>
        <p:spPr>
          <a:xfrm>
            <a:off x="409455" y="6977267"/>
            <a:ext cx="60960" cy="916067"/>
          </a:xfrm>
          <a:prstGeom prst="roundRect">
            <a:avLst>
              <a:gd name="adj" fmla="val 78139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15" name="Text 10"/>
          <p:cNvSpPr/>
          <p:nvPr/>
        </p:nvSpPr>
        <p:spPr>
          <a:xfrm>
            <a:off x="562881" y="7105855"/>
            <a:ext cx="2152531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the Repository API Offers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62881" y="7316953"/>
            <a:ext cx="6587133" cy="44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05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Rich, structured, domain-relevant metadata</a:t>
            </a:r>
            <a:endParaRPr lang="en-US" sz="850" dirty="0"/>
          </a:p>
          <a:p>
            <a:pPr marL="342900" indent="-342900" algn="l">
              <a:lnSpc>
                <a:spcPts val="105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Discipline-specific fields and semantics</a:t>
            </a:r>
            <a:endParaRPr lang="en-US" sz="850" dirty="0"/>
          </a:p>
          <a:p>
            <a:pPr marL="342900" indent="-342900" algn="l">
              <a:lnSpc>
                <a:spcPts val="105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Use-case-dependent relevance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862965"/>
            <a:ext cx="1261610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 Case 1: Enrich Manifests After Deposition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025372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manifests cannot serve all reuse scenarios. Enabling post-deposition enrichment decouples metadata semantics from the repository's fixed projection.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90" y="3006328"/>
            <a:ext cx="453628" cy="4536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790" y="3743444"/>
            <a:ext cx="333779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User-Defined Projection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93790" y="4233863"/>
            <a:ext cx="63796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Researchers inject domain-specific metadata fields at reuse time—not at deposition.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6884" y="3006328"/>
            <a:ext cx="453628" cy="4536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6884" y="3743444"/>
            <a:ext cx="330565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Late-Binding Semantics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456884" y="4233863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Metadata meaning is resolved when needed, not hardcoded at ingest.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3790" y="5413296"/>
            <a:ext cx="453628" cy="45362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93790" y="6150412"/>
            <a:ext cx="316765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Reproducible Pipelines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793790" y="6640830"/>
            <a:ext cx="637960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Enrichment logic is scriptable, versionable, and shareable across projects.</a:t>
            </a:r>
            <a:endParaRPr lang="en-US" sz="17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56884" y="5413296"/>
            <a:ext cx="453628" cy="45362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56884" y="6150412"/>
            <a:ext cx="329434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Decoupled Architecture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7456884" y="6640830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repository serves raw manifests; enrichment happens externally without modifying the source.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671632"/>
            <a:ext cx="7556421" cy="1275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Workflow Demo: Manifest Enrichment in Action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793790" y="2223016"/>
            <a:ext cx="7556421" cy="620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three-step process transforms a barebones IIIF manifest into a rich, domain-aware resource—without touching the original dataset.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93790" y="3050262"/>
            <a:ext cx="816531" cy="1224796"/>
          </a:xfrm>
          <a:prstGeom prst="roundRect">
            <a:avLst>
              <a:gd name="adj" fmla="val 36002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6" name="Text 3"/>
          <p:cNvSpPr/>
          <p:nvPr/>
        </p:nvSpPr>
        <p:spPr>
          <a:xfrm>
            <a:off x="1048941" y="3471267"/>
            <a:ext cx="306110" cy="382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794034" y="3254335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API Request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794034" y="3683317"/>
            <a:ext cx="6556177" cy="310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Fetch the base manifest from 4TU.RD via the Presentation API.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93790" y="4458772"/>
            <a:ext cx="816531" cy="1457682"/>
          </a:xfrm>
          <a:prstGeom prst="roundRect">
            <a:avLst>
              <a:gd name="adj" fmla="val 36002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Text 7"/>
          <p:cNvSpPr/>
          <p:nvPr/>
        </p:nvSpPr>
        <p:spPr>
          <a:xfrm>
            <a:off x="1048941" y="4996220"/>
            <a:ext cx="306110" cy="382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794034" y="4662845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Inject Metadata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794034" y="5091827"/>
            <a:ext cx="6556177" cy="620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 shell script that queries the repository API and merges domain-specific fields into the manifest.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93790" y="6100167"/>
            <a:ext cx="816531" cy="1457682"/>
          </a:xfrm>
          <a:prstGeom prst="roundRect">
            <a:avLst>
              <a:gd name="adj" fmla="val 360021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Text 11"/>
          <p:cNvSpPr/>
          <p:nvPr/>
        </p:nvSpPr>
        <p:spPr>
          <a:xfrm>
            <a:off x="1048941" y="6637615"/>
            <a:ext cx="306110" cy="382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94034" y="6304240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Enriched Manifest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794034" y="6733223"/>
            <a:ext cx="6556177" cy="620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a fully enriched manifest ready for downstream tools, pipelines, or publication.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6709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6835" y="311825"/>
            <a:ext cx="471511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 Case 2: The Download Barrier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96835" y="3798094"/>
            <a:ext cx="6780014" cy="272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Published image datasets are </a:t>
            </a: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technically accessible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but not </a:t>
            </a: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operationally usable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The default workflow imposes a heavy tax on reuse: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396835" y="4133969"/>
            <a:ext cx="6780014" cy="464820"/>
          </a:xfrm>
          <a:prstGeom prst="roundRect">
            <a:avLst>
              <a:gd name="adj" fmla="val 10248"/>
            </a:avLst>
          </a:prstGeom>
          <a:solidFill>
            <a:srgbClr val="FFB3B4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83" y="4275653"/>
            <a:ext cx="141684" cy="1133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5215" y="4218980"/>
            <a:ext cx="6298287" cy="272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50"/>
              </a:lnSpc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Many datasets are </a:t>
            </a:r>
            <a:r>
              <a:rPr lang="en-US" sz="8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reused</a:t>
            </a: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—not because they lack value, but because access is too heavy. Scientific images are often large, multi-resolution, and sparsely used, yet workflows treat them as monolithic files.</a:t>
            </a:r>
            <a:endParaRPr lang="en-US" sz="8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171" y="814864"/>
            <a:ext cx="6780014" cy="6780014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171" y="814864"/>
            <a:ext cx="6780014" cy="678001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96835" y="6725684"/>
            <a:ext cx="255151" cy="255151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Text 5"/>
          <p:cNvSpPr/>
          <p:nvPr/>
        </p:nvSpPr>
        <p:spPr>
          <a:xfrm>
            <a:off x="439341" y="7743468"/>
            <a:ext cx="170021" cy="2126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08660" y="6764617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Discover dataset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7350562" y="6725684"/>
            <a:ext cx="255151" cy="255151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3" name="Text 8"/>
          <p:cNvSpPr/>
          <p:nvPr/>
        </p:nvSpPr>
        <p:spPr>
          <a:xfrm>
            <a:off x="7393067" y="7743468"/>
            <a:ext cx="170021" cy="2126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7662386" y="6764617"/>
            <a:ext cx="2026444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Download files (GB–TB scale)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96835" y="7094182"/>
            <a:ext cx="255151" cy="255151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6" name="Text 11"/>
          <p:cNvSpPr/>
          <p:nvPr/>
        </p:nvSpPr>
        <p:spPr>
          <a:xfrm>
            <a:off x="439341" y="8111966"/>
            <a:ext cx="170021" cy="2126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708660" y="7133116"/>
            <a:ext cx="1417558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Store locally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7350562" y="8090773"/>
            <a:ext cx="255151" cy="255151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9" name="Text 14"/>
          <p:cNvSpPr/>
          <p:nvPr/>
        </p:nvSpPr>
        <p:spPr>
          <a:xfrm>
            <a:off x="7393067" y="7115375"/>
            <a:ext cx="170021" cy="2126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662386" y="7133116"/>
            <a:ext cx="1621631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Load into analysis tools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56159"/>
            <a:ext cx="1086147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IIIF-Enabled On-the-Fly Image Analysis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818567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idea: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Image data is accessible but not </a:t>
            </a:r>
            <a:r>
              <a:rPr lang="en-US" sz="175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computationally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accessible. IIIF turns images into queryable resources—enabling analysis without download.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799523"/>
            <a:ext cx="4196358" cy="2773799"/>
          </a:xfrm>
          <a:prstGeom prst="roundRect">
            <a:avLst>
              <a:gd name="adj" fmla="val 343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5" name="Text 3"/>
          <p:cNvSpPr/>
          <p:nvPr/>
        </p:nvSpPr>
        <p:spPr>
          <a:xfrm>
            <a:off x="1028224" y="403395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Partial Data Access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8224" y="4524375"/>
            <a:ext cx="372749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thumbnails, regions (xywh), or downsampled images via the Image API. Retrieve only what is needed—no over-fetching.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216962" y="3799523"/>
            <a:ext cx="4196358" cy="2773799"/>
          </a:xfrm>
          <a:prstGeom prst="roundRect">
            <a:avLst>
              <a:gd name="adj" fmla="val 343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8" name="Text 6"/>
          <p:cNvSpPr/>
          <p:nvPr/>
        </p:nvSpPr>
        <p:spPr>
          <a:xfrm>
            <a:off x="5451396" y="4033957"/>
            <a:ext cx="358175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Direct Pipeline Integration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51396" y="4524375"/>
            <a:ext cx="372749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Fetch image → convert to NumPy array → analyze. No intermediate storage. IIIF becomes a </a:t>
            </a:r>
            <a:r>
              <a:rPr lang="en-US" sz="1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access layer for computation</a:t>
            </a: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just viewing.</a:t>
            </a:r>
            <a:endParaRPr lang="en-US" sz="1750" dirty="0"/>
          </a:p>
        </p:txBody>
      </p:sp>
      <p:sp>
        <p:nvSpPr>
          <p:cNvPr id="10" name="Shape 8"/>
          <p:cNvSpPr/>
          <p:nvPr/>
        </p:nvSpPr>
        <p:spPr>
          <a:xfrm>
            <a:off x="9640133" y="3799523"/>
            <a:ext cx="4196358" cy="2773799"/>
          </a:xfrm>
          <a:prstGeom prst="roundRect">
            <a:avLst>
              <a:gd name="adj" fmla="val 3435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1" name="Text 9"/>
          <p:cNvSpPr/>
          <p:nvPr/>
        </p:nvSpPr>
        <p:spPr>
          <a:xfrm>
            <a:off x="9874568" y="4033957"/>
            <a:ext cx="328314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Cloud-Native Execution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874568" y="4524375"/>
            <a:ext cx="372749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Analysis happens in-memory, on-demand. Enables lightweight workflows in Binder, Jupyter notebooks, and distributed compute environments.</a:t>
            </a:r>
            <a:endParaRPr lang="en-US" sz="1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8867" y="445651"/>
            <a:ext cx="4499491" cy="409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From Workflows to Services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58867" y="1006912"/>
            <a:ext cx="13712666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shift from manual download workflows to a service-oriented architecture transforms how researchers interact with image data—IIIF APIs become the connective tissue between discovery and computation.</a:t>
            </a:r>
            <a:endParaRPr lang="en-US" sz="1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67" y="1257657"/>
            <a:ext cx="13712666" cy="62755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03457" y="2117083"/>
            <a:ext cx="3033387" cy="379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IIIF APIs &amp; Data</a:t>
            </a:r>
            <a:endParaRPr lang="en-US" sz="2350" dirty="0"/>
          </a:p>
        </p:txBody>
      </p:sp>
      <p:sp>
        <p:nvSpPr>
          <p:cNvPr id="6" name="Text 3"/>
          <p:cNvSpPr/>
          <p:nvPr/>
        </p:nvSpPr>
        <p:spPr>
          <a:xfrm>
            <a:off x="10503457" y="2604110"/>
            <a:ext cx="3343467" cy="478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 &amp; Presentation APIs, repository files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23580" y="4179787"/>
            <a:ext cx="3033387" cy="3791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950"/>
              </a:lnSpc>
              <a:buNone/>
            </a:pPr>
            <a:r>
              <a:rPr lang="en-US" sz="2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Service Layer</a:t>
            </a:r>
            <a:endParaRPr lang="en-US" sz="2350" dirty="0"/>
          </a:p>
        </p:txBody>
      </p:sp>
      <p:sp>
        <p:nvSpPr>
          <p:cNvPr id="8" name="Text 5"/>
          <p:cNvSpPr/>
          <p:nvPr/>
        </p:nvSpPr>
        <p:spPr>
          <a:xfrm>
            <a:off x="783135" y="4666814"/>
            <a:ext cx="3073833" cy="478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850"/>
              </a:lnSpc>
              <a:buNone/>
            </a:pPr>
            <a:r>
              <a:rPr lang="en-US" sz="1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Manifest builder, enrichment, analysis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503457" y="5244843"/>
            <a:ext cx="3033387" cy="379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50"/>
              </a:lnSpc>
              <a:buNone/>
            </a:pPr>
            <a:r>
              <a:rPr lang="en-US" sz="2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Researcher</a:t>
            </a:r>
            <a:endParaRPr lang="en-US" sz="2350" dirty="0"/>
          </a:p>
        </p:txBody>
      </p:sp>
      <p:sp>
        <p:nvSpPr>
          <p:cNvPr id="10" name="Text 7"/>
          <p:cNvSpPr/>
          <p:nvPr/>
        </p:nvSpPr>
        <p:spPr>
          <a:xfrm>
            <a:off x="10503457" y="5731870"/>
            <a:ext cx="3343467" cy="478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Notebooks, tools, and pipelines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458867" y="7618452"/>
            <a:ext cx="13712666" cy="165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layer communicates through standard IIIF interfaces, enabling modular, replaceable components. Researchers never touch raw storage directly—the service layer abstracts complexity while preserving reproducibility.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43796"/>
            <a:ext cx="5141952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Performance Challenges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793790" y="1566743"/>
            <a:ext cx="7556421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image analysis at scale introduces real infrastructure demands. Naive implementations will bottleneck under research workloads.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93790" y="2186464"/>
            <a:ext cx="7556421" cy="1204198"/>
          </a:xfrm>
          <a:prstGeom prst="roundRect">
            <a:avLst>
              <a:gd name="adj" fmla="val 9112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6" name="Shape 3"/>
          <p:cNvSpPr/>
          <p:nvPr/>
        </p:nvSpPr>
        <p:spPr>
          <a:xfrm>
            <a:off x="770930" y="2186464"/>
            <a:ext cx="91440" cy="1204198"/>
          </a:xfrm>
          <a:prstGeom prst="roundRect">
            <a:avLst>
              <a:gd name="adj" fmla="val 78140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7" name="Text 4"/>
          <p:cNvSpPr/>
          <p:nvPr/>
        </p:nvSpPr>
        <p:spPr>
          <a:xfrm>
            <a:off x="1055251" y="2379345"/>
            <a:ext cx="2539841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 Request Frequency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055251" y="2721531"/>
            <a:ext cx="710207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Analysis pipelines may issue thousands of region requests per session—requiring connection pooling and rate-limit awareness.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93790" y="3518178"/>
            <a:ext cx="7556421" cy="1204198"/>
          </a:xfrm>
          <a:prstGeom prst="roundRect">
            <a:avLst>
              <a:gd name="adj" fmla="val 9112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0" name="Shape 7"/>
          <p:cNvSpPr/>
          <p:nvPr/>
        </p:nvSpPr>
        <p:spPr>
          <a:xfrm>
            <a:off x="770930" y="3518178"/>
            <a:ext cx="91440" cy="1204198"/>
          </a:xfrm>
          <a:prstGeom prst="roundRect">
            <a:avLst>
              <a:gd name="adj" fmla="val 78140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11" name="Text 8"/>
          <p:cNvSpPr/>
          <p:nvPr/>
        </p:nvSpPr>
        <p:spPr>
          <a:xfrm>
            <a:off x="1055251" y="3711059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Large Image Sizes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055251" y="4053245"/>
            <a:ext cx="710207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Scientific images (GB–TB scale) demand tile-based delivery and aggressive downsampling strategies to remain responsive.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93790" y="4849892"/>
            <a:ext cx="7556421" cy="1204198"/>
          </a:xfrm>
          <a:prstGeom prst="roundRect">
            <a:avLst>
              <a:gd name="adj" fmla="val 9112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4" name="Shape 11"/>
          <p:cNvSpPr/>
          <p:nvPr/>
        </p:nvSpPr>
        <p:spPr>
          <a:xfrm>
            <a:off x="770930" y="4849892"/>
            <a:ext cx="91440" cy="1204198"/>
          </a:xfrm>
          <a:prstGeom prst="roundRect">
            <a:avLst>
              <a:gd name="adj" fmla="val 78140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15" name="Text 12"/>
          <p:cNvSpPr/>
          <p:nvPr/>
        </p:nvSpPr>
        <p:spPr>
          <a:xfrm>
            <a:off x="1055251" y="5042773"/>
            <a:ext cx="2951321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Dynamic Manifest Overhead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1055251" y="5384959"/>
            <a:ext cx="710207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Enriched manifests generated on-the-fly add latency; pre-computation and invalidation strategies are essential.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93790" y="6181606"/>
            <a:ext cx="7556421" cy="1204198"/>
          </a:xfrm>
          <a:prstGeom prst="roundRect">
            <a:avLst>
              <a:gd name="adj" fmla="val 9112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nl-NL"/>
          </a:p>
        </p:txBody>
      </p:sp>
      <p:sp>
        <p:nvSpPr>
          <p:cNvPr id="18" name="Shape 15"/>
          <p:cNvSpPr/>
          <p:nvPr/>
        </p:nvSpPr>
        <p:spPr>
          <a:xfrm>
            <a:off x="770930" y="6181606"/>
            <a:ext cx="91440" cy="1204198"/>
          </a:xfrm>
          <a:prstGeom prst="roundRect">
            <a:avLst>
              <a:gd name="adj" fmla="val 78140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nl-NL"/>
          </a:p>
        </p:txBody>
      </p:sp>
      <p:sp>
        <p:nvSpPr>
          <p:cNvPr id="19" name="Text 16"/>
          <p:cNvSpPr/>
          <p:nvPr/>
        </p:nvSpPr>
        <p:spPr>
          <a:xfrm>
            <a:off x="1055251" y="6374487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API Latency</a:t>
            </a:r>
            <a:endParaRPr lang="en-US" sz="1650" dirty="0"/>
          </a:p>
        </p:txBody>
      </p:sp>
      <p:sp>
        <p:nvSpPr>
          <p:cNvPr id="20" name="Text 17"/>
          <p:cNvSpPr/>
          <p:nvPr/>
        </p:nvSpPr>
        <p:spPr>
          <a:xfrm>
            <a:off x="1055251" y="6716673"/>
            <a:ext cx="7102078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latency compounds across pipeline stages. Caching at multiple layers—CDN, application, and in-memory—is non-optional.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2579" y="517565"/>
            <a:ext cx="5617726" cy="508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Infrastructure Requirements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32579" y="1259205"/>
            <a:ext cx="13365242" cy="22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production-grade IIIF research infrastructure requires five coordinated layers—each addressable independently, but most powerful when integrated.</a:t>
            </a:r>
            <a:endParaRPr lang="en-US" sz="12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79" y="1744980"/>
            <a:ext cx="5835729" cy="5835729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79" y="1744980"/>
            <a:ext cx="5835729" cy="583572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21178" y="3389947"/>
            <a:ext cx="2033468" cy="254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7521178" y="3760708"/>
            <a:ext cx="6484263" cy="1238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IIIF is ready for natural and engineering sciences—but requires intentional architecture</a:t>
            </a:r>
            <a:endParaRPr lang="en-US" sz="125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Metadata enrichment decouples repository constraints from reuse workflows</a:t>
            </a:r>
            <a:endParaRPr lang="en-US" sz="125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On-the-fly analysis eliminates the download barrier for large image datasets</a:t>
            </a:r>
            <a:endParaRPr lang="en-US" sz="1250" dirty="0"/>
          </a:p>
          <a:p>
            <a:pPr marL="342900" indent="-342900" algn="l">
              <a:lnSpc>
                <a:spcPts val="1750"/>
              </a:lnSpc>
              <a:buSzPct val="100000"/>
              <a:buChar char="•"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at scale demands caching, tiling, and service-layer abstraction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521178" y="5130879"/>
            <a:ext cx="6484263" cy="790099"/>
          </a:xfrm>
          <a:prstGeom prst="roundRect">
            <a:avLst>
              <a:gd name="adj" fmla="val 8648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nl-NL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3817" y="5359360"/>
            <a:ext cx="203240" cy="16263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49697" y="5288042"/>
            <a:ext cx="5793105" cy="446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step:</a:t>
            </a:r>
            <a:r>
              <a:rPr lang="en-US" sz="12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Pilot the enrichment workflow with a domain-specific dataset and measure reuse impact.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850</Words>
  <Application>Microsoft Office PowerPoint</Application>
  <PresentationFormat>Custom</PresentationFormat>
  <Paragraphs>98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Inter</vt:lpstr>
      <vt:lpstr>Arial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Leila Iñigo de la Cruz</cp:lastModifiedBy>
  <cp:revision>2</cp:revision>
  <dcterms:created xsi:type="dcterms:W3CDTF">2026-04-30T14:54:16Z</dcterms:created>
  <dcterms:modified xsi:type="dcterms:W3CDTF">2026-05-11T10:42:09Z</dcterms:modified>
</cp:coreProperties>
</file>