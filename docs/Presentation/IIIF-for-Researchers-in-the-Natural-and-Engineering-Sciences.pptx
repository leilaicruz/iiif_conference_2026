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IIIF for Researchers in the Natural and Engineering Sciences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International Image Interoperability Framework is evolving from a cultural heritage standard into a practical research infrastructure for data-intensive science.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7807" y="653534"/>
            <a:ext cx="6731556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IIIF at 4TU.ResearchData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6267807" y="1680924"/>
            <a:ext cx="758118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Since </a:t>
            </a:r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2025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4TU.RD has been a production IIIF-enabled repository—built on the Djehuty Python backend. Three core components power the implementation: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67807" y="2991088"/>
            <a:ext cx="3680698" cy="2714030"/>
          </a:xfrm>
          <a:prstGeom prst="roundRect">
            <a:avLst>
              <a:gd name="adj" fmla="val 345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98669" y="3221950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IIIF Image API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498669" y="3702606"/>
            <a:ext cx="321897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On-demand delivery of image regions, thumbnails, and scaled resolutions—no full-file download required.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68295" y="2991088"/>
            <a:ext cx="3680698" cy="2714030"/>
          </a:xfrm>
          <a:prstGeom prst="roundRect">
            <a:avLst>
              <a:gd name="adj" fmla="val 345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99157" y="3221950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IIIF Presentation API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10399157" y="3702606"/>
            <a:ext cx="3218974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manifests that describe datasets, sequences, and associated metadata for discovery and reuse.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67807" y="5924907"/>
            <a:ext cx="7581186" cy="1651040"/>
          </a:xfrm>
          <a:prstGeom prst="roundRect">
            <a:avLst>
              <a:gd name="adj" fmla="val 568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8669" y="6155769"/>
            <a:ext cx="3571042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Backend (Djehuty)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6498669" y="6636425"/>
            <a:ext cx="711946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integration with the repository's API layer, enabling programmatic manifest generation and enrichment.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40350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Metadata Alignment Gap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3866198"/>
            <a:ext cx="6780014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 metadata is rich—but IIIF manifests don't reflect it. This misalignment limits downstream reuse.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96835" y="4065984"/>
            <a:ext cx="6780014" cy="464820"/>
          </a:xfrm>
          <a:prstGeom prst="roundRect">
            <a:avLst>
              <a:gd name="adj" fmla="val 10248"/>
            </a:avLst>
          </a:prstGeom>
          <a:solidFill>
            <a:srgbClr val="FCF2B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183" y="4207669"/>
            <a:ext cx="141684" cy="1133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5215" y="4150995"/>
            <a:ext cx="6298287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two layers are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aligned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—repositories impose a single interpretation of what is "relevant," but relevance is use-case dependent.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171" y="814864"/>
            <a:ext cx="6780014" cy="678001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171" y="814864"/>
            <a:ext cx="6780014" cy="678001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96835" y="7722275"/>
            <a:ext cx="6890028" cy="916067"/>
          </a:xfrm>
          <a:prstGeom prst="roundRect">
            <a:avLst>
              <a:gd name="adj" fmla="val 7985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381595" y="7722275"/>
            <a:ext cx="60960" cy="916067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1" name="Text 6"/>
          <p:cNvSpPr/>
          <p:nvPr/>
        </p:nvSpPr>
        <p:spPr>
          <a:xfrm>
            <a:off x="571143" y="7850862"/>
            <a:ext cx="186892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IIIF Manifests Expose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71143" y="8061960"/>
            <a:ext cx="6587133" cy="44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descriptive metadata</a:t>
            </a:r>
            <a:endParaRPr lang="en-US" sz="8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image info only</a:t>
            </a:r>
            <a:endParaRPr lang="en-US" sz="8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Fixed, generic field projection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7343537" y="7722275"/>
            <a:ext cx="6890028" cy="916067"/>
          </a:xfrm>
          <a:prstGeom prst="roundRect">
            <a:avLst>
              <a:gd name="adj" fmla="val 7985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7328297" y="7722275"/>
            <a:ext cx="60960" cy="916067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5" name="Text 10"/>
          <p:cNvSpPr/>
          <p:nvPr/>
        </p:nvSpPr>
        <p:spPr>
          <a:xfrm>
            <a:off x="7517844" y="7850862"/>
            <a:ext cx="2152531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the Repository API Offers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517844" y="8061960"/>
            <a:ext cx="6587133" cy="44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Rich, structured, domain-relevant metadata</a:t>
            </a:r>
            <a:endParaRPr lang="en-US" sz="8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Discipline-specific fields and semantics</a:t>
            </a:r>
            <a:endParaRPr lang="en-US" sz="8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Use-case-dependent relevance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2965"/>
            <a:ext cx="126161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 Case 1: Enrich Manifests After Deposition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2537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manifests cannot serve all reuse scenarios. Enabling post-deposition enrichment decouples metadata semantics from the repository's fixed projection.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006328"/>
            <a:ext cx="453628" cy="4536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743444"/>
            <a:ext cx="33377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User-Defined Projection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233863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Researchers inject domain-specific metadata fields at reuse time—not at deposition.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006328"/>
            <a:ext cx="453628" cy="4536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3743444"/>
            <a:ext cx="33056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Late-Binding Semantics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6884" y="4233863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Metadata meaning is resolved when needed, not hardcoded at ingest.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413296"/>
            <a:ext cx="453628" cy="4536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6150412"/>
            <a:ext cx="31676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Reproducible Pipelines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93790" y="6640830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Enrichment logic is scriptable, versionable, and shareable across projects.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5413296"/>
            <a:ext cx="453628" cy="4536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6884" y="6150412"/>
            <a:ext cx="32943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Decoupled Architecture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456884" y="6640830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repository serves raw manifests; enrichment happens externally without modifying the source.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71632"/>
            <a:ext cx="7556421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Workflow Demo: Manifest Enrichment in Action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93790" y="2223016"/>
            <a:ext cx="755642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three-step process transforms a barebones IIIF manifest into a rich, domain-aware resource—without touching the original dataset.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93790" y="3050262"/>
            <a:ext cx="816531" cy="1224796"/>
          </a:xfrm>
          <a:prstGeom prst="roundRect">
            <a:avLst>
              <a:gd name="adj" fmla="val 36002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48941" y="3471267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794034" y="325433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Request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94034" y="3683317"/>
            <a:ext cx="655617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Fetch the base manifest from 4TU.RD via the Presentation API.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93790" y="4458772"/>
            <a:ext cx="816531" cy="1457682"/>
          </a:xfrm>
          <a:prstGeom prst="roundRect">
            <a:avLst>
              <a:gd name="adj" fmla="val 36002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8941" y="4996220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794034" y="4662845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Inject Metadata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794034" y="5091827"/>
            <a:ext cx="6556177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a shell script that queries the repository API and merges domain-specific fields into the manifest.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93790" y="6100167"/>
            <a:ext cx="816531" cy="1457682"/>
          </a:xfrm>
          <a:prstGeom prst="roundRect">
            <a:avLst>
              <a:gd name="adj" fmla="val 36002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8941" y="6637615"/>
            <a:ext cx="306110" cy="3826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794034" y="630424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Enriched Manifest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794034" y="6733223"/>
            <a:ext cx="6556177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a fully enriched manifest ready for downstream tools, pipelines, or publication.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47151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 Case 2: The Download Barrier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3798094"/>
            <a:ext cx="6780014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Published image datasets are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technically accessible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but not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operationally usable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default workflow imposes a heavy tax on reuse: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96835" y="4133969"/>
            <a:ext cx="6780014" cy="464820"/>
          </a:xfrm>
          <a:prstGeom prst="roundRect">
            <a:avLst>
              <a:gd name="adj" fmla="val 10248"/>
            </a:avLst>
          </a:prstGeom>
          <a:solidFill>
            <a:srgbClr val="FFB3B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183" y="4275653"/>
            <a:ext cx="141684" cy="1133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5215" y="4218980"/>
            <a:ext cx="6298287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datasets are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reused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—not because they lack value, but because access is too heavy. Scientific images are often large, multi-resolution, and sparsely used, yet workflows treat them as monolithic files.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171" y="814864"/>
            <a:ext cx="6780014" cy="678001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171" y="814864"/>
            <a:ext cx="6780014" cy="678001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96835" y="772227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439341" y="7743468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08660" y="776120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Discover dataset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7350562" y="7722275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93067" y="7743468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7662386" y="7761208"/>
            <a:ext cx="202644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Download files (GB–TB scale)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96835" y="8090773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39341" y="8111966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08660" y="812970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Store locally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350562" y="8090773"/>
            <a:ext cx="255151" cy="255151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393067" y="8111966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662386" y="8129707"/>
            <a:ext cx="1621631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Load into analysis tools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6159"/>
            <a:ext cx="108614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IIIF-Enabled On-the-Fly Image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1856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idea: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Image data is accessible but not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computationally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accessible. IIIF turns images into queryable resources—enabling analysis without download.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99523"/>
            <a:ext cx="4196358" cy="2773799"/>
          </a:xfrm>
          <a:prstGeom prst="roundRect">
            <a:avLst>
              <a:gd name="adj" fmla="val 343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40339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Partial Data Access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524375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thumbnails, regions (xywh), or downsampled images via the Image API. Retrieve only what is needed—no over-fetching.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799523"/>
            <a:ext cx="4196358" cy="2773799"/>
          </a:xfrm>
          <a:prstGeom prst="roundRect">
            <a:avLst>
              <a:gd name="adj" fmla="val 343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1396" y="4033957"/>
            <a:ext cx="35817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Direct Pipeline Integration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4524375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Fetch image → convert to NumPy array → analyze. No intermediate storage. IIIF becomes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access layer for computation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just viewing.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799523"/>
            <a:ext cx="4196358" cy="2773799"/>
          </a:xfrm>
          <a:prstGeom prst="roundRect">
            <a:avLst>
              <a:gd name="adj" fmla="val 343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4568" y="4033957"/>
            <a:ext cx="32831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Cloud-Native Execution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4524375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happens in-memory, on-demand. Enables lightweight workflows in Binder, Jupyter notebooks, and distributed compute environments.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8867" y="445651"/>
            <a:ext cx="4499491" cy="409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Workflows to Services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8867" y="1006912"/>
            <a:ext cx="13712666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shift from manual download workflows to a service-oriented architecture transforms how researchers interact with image data—IIIF APIs become the connective tissue between discovery and computation.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867" y="1257657"/>
            <a:ext cx="13712666" cy="62755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03457" y="2117083"/>
            <a:ext cx="3033387" cy="37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IIIF APIs &amp; Data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10503457" y="2604110"/>
            <a:ext cx="3343467" cy="478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&amp; Presentation APIs, repository files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23580" y="4179787"/>
            <a:ext cx="3033387" cy="37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Layer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783135" y="4666814"/>
            <a:ext cx="3073833" cy="478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Manifest builder, enrichment, analysis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503457" y="5244843"/>
            <a:ext cx="3033387" cy="379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Researcher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10503457" y="5731870"/>
            <a:ext cx="3343467" cy="478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Notebooks, tools, and pipelines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58867" y="7618452"/>
            <a:ext cx="13712666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layer communicates through standard IIIF interfaces, enabling modular, replaceable components. Researchers never touch raw storage directly—the service layer abstracts complexity while preserving reproducibility.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43796"/>
            <a:ext cx="5141952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Challenges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93790" y="1566743"/>
            <a:ext cx="755642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image analysis at scale introduces real infrastructure demands. Naive implementations will bottleneck under research workloads.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93790" y="2186464"/>
            <a:ext cx="7556421" cy="1204198"/>
          </a:xfrm>
          <a:prstGeom prst="roundRect">
            <a:avLst>
              <a:gd name="adj" fmla="val 911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0930" y="2186464"/>
            <a:ext cx="91440" cy="1204198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1055251" y="2379345"/>
            <a:ext cx="253984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Request Frequency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55251" y="2721531"/>
            <a:ext cx="710207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pipelines may issue thousands of region requests per session—requiring connection pooling and rate-limit awareness.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93790" y="3518178"/>
            <a:ext cx="7556421" cy="1204198"/>
          </a:xfrm>
          <a:prstGeom prst="roundRect">
            <a:avLst>
              <a:gd name="adj" fmla="val 911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0930" y="3518178"/>
            <a:ext cx="91440" cy="1204198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1055251" y="371105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Large Image Sizes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055251" y="4053245"/>
            <a:ext cx="710207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Scientific images (GB–TB scale) demand tile-based delivery and aggressive downsampling strategies to remain responsive.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93790" y="4849892"/>
            <a:ext cx="7556421" cy="1204198"/>
          </a:xfrm>
          <a:prstGeom prst="roundRect">
            <a:avLst>
              <a:gd name="adj" fmla="val 911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0930" y="4849892"/>
            <a:ext cx="91440" cy="1204198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15" name="Text 12"/>
          <p:cNvSpPr/>
          <p:nvPr/>
        </p:nvSpPr>
        <p:spPr>
          <a:xfrm>
            <a:off x="1055251" y="5042773"/>
            <a:ext cx="295132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Manifest Overhead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055251" y="5384959"/>
            <a:ext cx="710207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Enriched manifests generated on-the-fly add latency; pre-computation and invalidation strategies are essential.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93790" y="6181606"/>
            <a:ext cx="7556421" cy="1204198"/>
          </a:xfrm>
          <a:prstGeom prst="roundRect">
            <a:avLst>
              <a:gd name="adj" fmla="val 911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0930" y="6181606"/>
            <a:ext cx="91440" cy="1204198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19" name="Text 16"/>
          <p:cNvSpPr/>
          <p:nvPr/>
        </p:nvSpPr>
        <p:spPr>
          <a:xfrm>
            <a:off x="1055251" y="637448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Latency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055251" y="6716673"/>
            <a:ext cx="710207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latency compounds across pipeline stages. Caching at multiple layers—CDN, application, and in-memory—is non-optional.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2579" y="517565"/>
            <a:ext cx="5617726" cy="508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Infrastructure Requirements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32579" y="1259205"/>
            <a:ext cx="13365242" cy="22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production-grade IIIF research infrastructure requires five coordinated layers—each addressable independently, but most powerful when integrated.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579" y="1744980"/>
            <a:ext cx="5835729" cy="583572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79" y="1744980"/>
            <a:ext cx="5835729" cy="583572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21178" y="3389947"/>
            <a:ext cx="2033468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521178" y="3760708"/>
            <a:ext cx="6484263" cy="1238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IIIF is ready for natural and engineering sciences—but requires intentional architecture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Metadata enrichment decouples repository constraints from reuse workflows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On-the-fly analysis eliminates the download barrier for large image datasets</a:t>
            </a:r>
            <a:endParaRPr lang="en-US" sz="125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at scale demands caching, tiling, and service-layer abstraction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7521178" y="5130879"/>
            <a:ext cx="6484263" cy="790099"/>
          </a:xfrm>
          <a:prstGeom prst="roundRect">
            <a:avLst>
              <a:gd name="adj" fmla="val 8648"/>
            </a:avLst>
          </a:prstGeom>
          <a:solidFill>
            <a:srgbClr val="B6D6FC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817" y="5359360"/>
            <a:ext cx="203240" cy="16263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9697" y="5288042"/>
            <a:ext cx="5793105" cy="446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step: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Pilot the enrichment workflow with a domain-specific dataset and measure reuse impact.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2026-04-30T14:54:16Z</dcterms:created>
  <dcterms:modified xsi:type="dcterms:W3CDTF">2026-04-30T14:54:16Z</dcterms:modified>
</cp:coreProperties>
</file>