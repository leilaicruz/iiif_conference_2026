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7" r:id="rId6"/>
    <p:sldId id="268" r:id="rId7"/>
    <p:sldId id="261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8C915-436D-4449-8993-D8215B6EFC8F}" v="14" dt="2026-04-30T14:42:01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46" autoAdjust="0"/>
  </p:normalViewPr>
  <p:slideViewPr>
    <p:cSldViewPr snapToGrid="0" snapToObjects="1">
      <p:cViewPr varScale="1">
        <p:scale>
          <a:sx n="101" d="100"/>
          <a:sy n="101" d="100"/>
        </p:scale>
        <p:origin x="19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 sldOrd">
      <pc:chgData name="Leila Iñigo de la Cruz" userId="fae4ed0d-52e1-4e8b-ac73-77e0b7235c9a" providerId="ADAL" clId="{1E9E03C1-E5D4-4BEC-8EBD-C4DD5262B379}" dt="2026-04-30T14:42:19.390" v="777" actId="20577"/>
      <pc:docMkLst>
        <pc:docMk/>
      </pc:docMkLst>
      <pc:sldChg chg="addSp delSp modSp mod">
        <pc:chgData name="Leila Iñigo de la Cruz" userId="fae4ed0d-52e1-4e8b-ac73-77e0b7235c9a" providerId="ADAL" clId="{1E9E03C1-E5D4-4BEC-8EBD-C4DD5262B379}" dt="2026-04-30T14:42:19.390" v="777" actId="20577"/>
        <pc:sldMkLst>
          <pc:docMk/>
          <pc:sldMk cId="0" sldId="256"/>
        </pc:sldMkLst>
        <pc:spChg chg="mod">
          <ac:chgData name="Leila Iñigo de la Cruz" userId="fae4ed0d-52e1-4e8b-ac73-77e0b7235c9a" providerId="ADAL" clId="{1E9E03C1-E5D4-4BEC-8EBD-C4DD5262B379}" dt="2026-04-30T14:42:00.546" v="774" actId="21"/>
          <ac:spMkLst>
            <pc:docMk/>
            <pc:sldMk cId="0" sldId="256"/>
            <ac:spMk id="2" creationId="{00000000-0000-0000-0000-000000000000}"/>
          </ac:spMkLst>
        </pc:spChg>
        <pc:spChg chg="del">
          <ac:chgData name="Leila Iñigo de la Cruz" userId="fae4ed0d-52e1-4e8b-ac73-77e0b7235c9a" providerId="ADAL" clId="{1E9E03C1-E5D4-4BEC-8EBD-C4DD5262B379}" dt="2026-04-30T14:41:52.110" v="773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Leila Iñigo de la Cruz" userId="fae4ed0d-52e1-4e8b-ac73-77e0b7235c9a" providerId="ADAL" clId="{1E9E03C1-E5D4-4BEC-8EBD-C4DD5262B379}" dt="2026-04-30T14:42:19.390" v="777" actId="20577"/>
          <ac:spMkLst>
            <pc:docMk/>
            <pc:sldMk cId="0" sldId="256"/>
            <ac:spMk id="5" creationId="{2543F0D4-491E-2A99-1D9A-3EA1BCCF01FC}"/>
          </ac:spMkLst>
        </pc:spChg>
      </pc:sldChg>
      <pc:sldChg chg="modSp mod ord modNotesTx">
        <pc:chgData name="Leila Iñigo de la Cruz" userId="fae4ed0d-52e1-4e8b-ac73-77e0b7235c9a" providerId="ADAL" clId="{1E9E03C1-E5D4-4BEC-8EBD-C4DD5262B379}" dt="2026-04-30T14:30:44.525" v="410"/>
        <pc:sldMkLst>
          <pc:docMk/>
          <pc:sldMk cId="0" sldId="257"/>
        </pc:sldMkLst>
        <pc:spChg chg="mod">
          <ac:chgData name="Leila Iñigo de la Cruz" userId="fae4ed0d-52e1-4e8b-ac73-77e0b7235c9a" providerId="ADAL" clId="{1E9E03C1-E5D4-4BEC-8EBD-C4DD5262B379}" dt="2026-04-30T14:29:56.354" v="357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30:40.717" v="408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eila Iñigo de la Cruz" userId="fae4ed0d-52e1-4e8b-ac73-77e0b7235c9a" providerId="ADAL" clId="{1E9E03C1-E5D4-4BEC-8EBD-C4DD5262B379}" dt="2026-04-30T14:32:39.757" v="515" actId="20577"/>
        <pc:sldMkLst>
          <pc:docMk/>
          <pc:sldMk cId="0" sldId="258"/>
        </pc:sldMkLst>
        <pc:spChg chg="mod">
          <ac:chgData name="Leila Iñigo de la Cruz" userId="fae4ed0d-52e1-4e8b-ac73-77e0b7235c9a" providerId="ADAL" clId="{1E9E03C1-E5D4-4BEC-8EBD-C4DD5262B379}" dt="2026-04-30T14:31:09.535" v="46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32:39.757" v="51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eila Iñigo de la Cruz" userId="fae4ed0d-52e1-4e8b-ac73-77e0b7235c9a" providerId="ADAL" clId="{1E9E03C1-E5D4-4BEC-8EBD-C4DD5262B379}" dt="2026-04-30T14:10:46.556" v="22" actId="27636"/>
        <pc:sldMkLst>
          <pc:docMk/>
          <pc:sldMk cId="0" sldId="259"/>
        </pc:sldMkLst>
        <pc:spChg chg="mod">
          <ac:chgData name="Leila Iñigo de la Cruz" userId="fae4ed0d-52e1-4e8b-ac73-77e0b7235c9a" providerId="ADAL" clId="{1E9E03C1-E5D4-4BEC-8EBD-C4DD5262B379}" dt="2026-04-30T14:10:46.556" v="22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05:11.901" v="1" actId="27636"/>
          <ac:spMkLst>
            <pc:docMk/>
            <pc:sldMk cId="0" sldId="259"/>
            <ac:spMk id="3" creationId="{00000000-0000-0000-0000-000000000000}"/>
          </ac:spMkLst>
        </pc:spChg>
      </pc:sldChg>
      <pc:sldChg chg="del">
        <pc:chgData name="Leila Iñigo de la Cruz" userId="fae4ed0d-52e1-4e8b-ac73-77e0b7235c9a" providerId="ADAL" clId="{1E9E03C1-E5D4-4BEC-8EBD-C4DD5262B379}" dt="2026-04-30T14:05:44.945" v="2" actId="2696"/>
        <pc:sldMkLst>
          <pc:docMk/>
          <pc:sldMk cId="0" sldId="260"/>
        </pc:sldMkLst>
      </pc:sldChg>
      <pc:sldChg chg="modSp mod">
        <pc:chgData name="Leila Iñigo de la Cruz" userId="fae4ed0d-52e1-4e8b-ac73-77e0b7235c9a" providerId="ADAL" clId="{1E9E03C1-E5D4-4BEC-8EBD-C4DD5262B379}" dt="2026-04-30T14:40:44.373" v="764" actId="403"/>
        <pc:sldMkLst>
          <pc:docMk/>
          <pc:sldMk cId="0" sldId="261"/>
        </pc:sldMkLst>
        <pc:spChg chg="mod">
          <ac:chgData name="Leila Iñigo de la Cruz" userId="fae4ed0d-52e1-4e8b-ac73-77e0b7235c9a" providerId="ADAL" clId="{1E9E03C1-E5D4-4BEC-8EBD-C4DD5262B379}" dt="2026-04-30T14:06:18.571" v="14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40:44.373" v="764" actId="403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Leila Iñigo de la Cruz" userId="fae4ed0d-52e1-4e8b-ac73-77e0b7235c9a" providerId="ADAL" clId="{1E9E03C1-E5D4-4BEC-8EBD-C4DD5262B379}" dt="2026-04-30T14:06:24.792" v="15" actId="2696"/>
        <pc:sldMkLst>
          <pc:docMk/>
          <pc:sldMk cId="0" sldId="262"/>
        </pc:sldMkLst>
      </pc:sldChg>
      <pc:sldChg chg="modSp mod">
        <pc:chgData name="Leila Iñigo de la Cruz" userId="fae4ed0d-52e1-4e8b-ac73-77e0b7235c9a" providerId="ADAL" clId="{1E9E03C1-E5D4-4BEC-8EBD-C4DD5262B379}" dt="2026-04-30T14:06:34.034" v="19" actId="1076"/>
        <pc:sldMkLst>
          <pc:docMk/>
          <pc:sldMk cId="0" sldId="263"/>
        </pc:sldMkLst>
        <pc:spChg chg="mod">
          <ac:chgData name="Leila Iñigo de la Cruz" userId="fae4ed0d-52e1-4e8b-ac73-77e0b7235c9a" providerId="ADAL" clId="{1E9E03C1-E5D4-4BEC-8EBD-C4DD5262B379}" dt="2026-04-30T14:06:29.785" v="16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06:31.008" v="17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06:32.211" v="1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Leila Iñigo de la Cruz" userId="fae4ed0d-52e1-4e8b-ac73-77e0b7235c9a" providerId="ADAL" clId="{1E9E03C1-E5D4-4BEC-8EBD-C4DD5262B379}" dt="2026-04-30T14:06:34.034" v="19" actId="1076"/>
          <ac:spMkLst>
            <pc:docMk/>
            <pc:sldMk cId="0" sldId="263"/>
            <ac:spMk id="6" creationId="{00000000-0000-0000-0000-000000000000}"/>
          </ac:spMkLst>
        </pc:spChg>
      </pc:sldChg>
      <pc:sldChg chg="modSp new mod">
        <pc:chgData name="Leila Iñigo de la Cruz" userId="fae4ed0d-52e1-4e8b-ac73-77e0b7235c9a" providerId="ADAL" clId="{1E9E03C1-E5D4-4BEC-8EBD-C4DD5262B379}" dt="2026-04-30T14:33:51.881" v="664" actId="5793"/>
        <pc:sldMkLst>
          <pc:docMk/>
          <pc:sldMk cId="3221929013" sldId="267"/>
        </pc:sldMkLst>
        <pc:spChg chg="mod">
          <ac:chgData name="Leila Iñigo de la Cruz" userId="fae4ed0d-52e1-4e8b-ac73-77e0b7235c9a" providerId="ADAL" clId="{1E9E03C1-E5D4-4BEC-8EBD-C4DD5262B379}" dt="2026-04-30T14:33:09.152" v="556" actId="20577"/>
          <ac:spMkLst>
            <pc:docMk/>
            <pc:sldMk cId="3221929013" sldId="267"/>
            <ac:spMk id="2" creationId="{FFD6BF7C-67BE-ED20-6DD6-66FAD40994E5}"/>
          </ac:spMkLst>
        </pc:spChg>
        <pc:spChg chg="mod">
          <ac:chgData name="Leila Iñigo de la Cruz" userId="fae4ed0d-52e1-4e8b-ac73-77e0b7235c9a" providerId="ADAL" clId="{1E9E03C1-E5D4-4BEC-8EBD-C4DD5262B379}" dt="2026-04-30T14:33:51.881" v="664" actId="5793"/>
          <ac:spMkLst>
            <pc:docMk/>
            <pc:sldMk cId="3221929013" sldId="267"/>
            <ac:spMk id="3" creationId="{BB6F9E2E-3A08-795E-EAFE-2AF5D7788012}"/>
          </ac:spMkLst>
        </pc:spChg>
      </pc:sldChg>
      <pc:sldChg chg="modSp add mod">
        <pc:chgData name="Leila Iñigo de la Cruz" userId="fae4ed0d-52e1-4e8b-ac73-77e0b7235c9a" providerId="ADAL" clId="{1E9E03C1-E5D4-4BEC-8EBD-C4DD5262B379}" dt="2026-04-30T14:38:07.868" v="719" actId="5793"/>
        <pc:sldMkLst>
          <pc:docMk/>
          <pc:sldMk cId="1650552378" sldId="268"/>
        </pc:sldMkLst>
        <pc:spChg chg="mod">
          <ac:chgData name="Leila Iñigo de la Cruz" userId="fae4ed0d-52e1-4e8b-ac73-77e0b7235c9a" providerId="ADAL" clId="{1E9E03C1-E5D4-4BEC-8EBD-C4DD5262B379}" dt="2026-04-30T14:35:43.023" v="681" actId="20577"/>
          <ac:spMkLst>
            <pc:docMk/>
            <pc:sldMk cId="1650552378" sldId="268"/>
            <ac:spMk id="2" creationId="{7594113E-6C07-CC58-35D2-DE3760A3D5BB}"/>
          </ac:spMkLst>
        </pc:spChg>
        <pc:spChg chg="mod">
          <ac:chgData name="Leila Iñigo de la Cruz" userId="fae4ed0d-52e1-4e8b-ac73-77e0b7235c9a" providerId="ADAL" clId="{1E9E03C1-E5D4-4BEC-8EBD-C4DD5262B379}" dt="2026-04-30T14:38:07.868" v="719" actId="5793"/>
          <ac:spMkLst>
            <pc:docMk/>
            <pc:sldMk cId="1650552378" sldId="268"/>
            <ac:spMk id="3" creationId="{335C6216-4526-18A7-90AB-BF976412941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679E7-DBB7-4101-B84E-D0AD00C4B185}" type="datetimeFigureOut">
              <a:rPr lang="nl-NL" smtClean="0"/>
              <a:t>30-4-2026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DADB0-218D-42EA-BF50-B3C75A9D01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260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Alignment of metadata presentations</a:t>
            </a:r>
          </a:p>
          <a:p>
            <a:r>
              <a:rPr lang="en-US" dirty="0"/>
              <a:t>Specially for generic repositories like 4TU, There is no structured domain specific metadata for the datasets, so we don’t enable presenting domain specific metadata by </a:t>
            </a:r>
            <a:r>
              <a:rPr lang="en-US" b="1" dirty="0"/>
              <a:t>interpreting and restructuring existing repository metadata (structured fields, descriptions, files, and linked resources), 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DADB0-218D-42EA-BF50-B3C75A9D0154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2102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IIIF for Researchers in the Natural and Engineering Sciences</a:t>
            </a:r>
            <a:br>
              <a:rPr lang="en-US" b="1" dirty="0"/>
            </a:b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43F0D4-491E-2A99-1D9A-3EA1BCCF0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IIIF as Research Infrastructure in Data-Intensive Science</a:t>
            </a:r>
            <a:endParaRPr lang="nl-N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IIIF is implemented in 4TU.RD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when? May 2025</a:t>
            </a:r>
          </a:p>
          <a:p>
            <a:r>
              <a:rPr lang="en-US" dirty="0"/>
              <a:t>What do we have?</a:t>
            </a:r>
            <a:endParaRPr dirty="0"/>
          </a:p>
          <a:p>
            <a:r>
              <a:rPr dirty="0"/>
              <a:t>• IIIF Image API</a:t>
            </a:r>
          </a:p>
          <a:p>
            <a:r>
              <a:rPr dirty="0"/>
              <a:t>• IIIF Presentation API</a:t>
            </a:r>
          </a:p>
          <a:p>
            <a:r>
              <a:rPr dirty="0"/>
              <a:t>• Python backend (</a:t>
            </a:r>
            <a:r>
              <a:rPr dirty="0" err="1"/>
              <a:t>Djehuty</a:t>
            </a:r>
            <a:r>
              <a:rPr dirty="0"/>
              <a:t>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Repository metadata is rich but underutilized in downstream reuse workflows.</a:t>
            </a:r>
          </a:p>
          <a:p>
            <a:pPr lvl="1"/>
            <a:r>
              <a:rPr lang="en-US" dirty="0"/>
              <a:t>IIIF manifests typically expose: </a:t>
            </a:r>
          </a:p>
          <a:p>
            <a:pPr lvl="2"/>
            <a:r>
              <a:rPr lang="en-US" dirty="0"/>
              <a:t>Minimal descriptive metadata </a:t>
            </a:r>
          </a:p>
          <a:p>
            <a:pPr lvl="2"/>
            <a:r>
              <a:rPr lang="en-US" dirty="0"/>
              <a:t>Technical image info </a:t>
            </a:r>
          </a:p>
          <a:p>
            <a:pPr lvl="1"/>
            <a:r>
              <a:rPr lang="en-US" dirty="0"/>
              <a:t>Meanwhile, the repository API exposes: </a:t>
            </a:r>
          </a:p>
          <a:p>
            <a:pPr lvl="2"/>
            <a:r>
              <a:rPr lang="en-US" dirty="0"/>
              <a:t>Rich, structured, domain-relevant metadata </a:t>
            </a:r>
          </a:p>
          <a:p>
            <a:pPr lvl="1"/>
            <a:r>
              <a:rPr lang="en-US" dirty="0"/>
              <a:t> These two layers are </a:t>
            </a:r>
            <a:r>
              <a:rPr lang="en-US" b="1" dirty="0"/>
              <a:t>not aligned</a:t>
            </a:r>
            <a:endParaRPr lang="en-US" dirty="0"/>
          </a:p>
          <a:p>
            <a:r>
              <a:rPr lang="en-US" dirty="0"/>
              <a:t>Metadata representations in manifests are </a:t>
            </a:r>
            <a:r>
              <a:rPr lang="en-US" b="1" dirty="0"/>
              <a:t>fixed and generic</a:t>
            </a:r>
          </a:p>
          <a:p>
            <a:pPr marL="457200" lvl="1" indent="0">
              <a:buNone/>
            </a:pPr>
            <a:r>
              <a:rPr lang="en-US" dirty="0"/>
              <a:t>- Repositories impose: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fixed metadata projection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 single interpretation of what is “relevant” </a:t>
            </a:r>
          </a:p>
          <a:p>
            <a:pPr lvl="1"/>
            <a:r>
              <a:rPr lang="en-US" dirty="0"/>
              <a:t>But in practice:</a:t>
            </a:r>
          </a:p>
          <a:p>
            <a:pPr lvl="2"/>
            <a:r>
              <a:rPr lang="en-US" dirty="0"/>
              <a:t>Relevance is </a:t>
            </a:r>
            <a:r>
              <a:rPr lang="en-US" b="1" dirty="0"/>
              <a:t>use-case dependent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Different disciplines require different metadata subsets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Use Case 1: Enrich Manifests After Deposition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Static manifests cannot serve all reuse scenarios</a:t>
            </a:r>
          </a:p>
          <a:p>
            <a:r>
              <a:rPr dirty="0"/>
              <a:t>• Fixed metadata mapping</a:t>
            </a:r>
          </a:p>
          <a:p>
            <a:r>
              <a:rPr dirty="0"/>
              <a:t>• Not domain-specific</a:t>
            </a:r>
          </a:p>
          <a:p>
            <a:endParaRPr sz="2800" dirty="0"/>
          </a:p>
          <a:p>
            <a:r>
              <a:rPr dirty="0"/>
              <a:t>Added value:</a:t>
            </a:r>
          </a:p>
          <a:p>
            <a:r>
              <a:rPr dirty="0"/>
              <a:t>• User-defined metadata projection</a:t>
            </a:r>
          </a:p>
          <a:p>
            <a:r>
              <a:rPr dirty="0"/>
              <a:t>• Late-binding of semantics</a:t>
            </a:r>
          </a:p>
          <a:p>
            <a:r>
              <a:rPr dirty="0"/>
              <a:t>• Reproducible enrichment pipelines</a:t>
            </a:r>
          </a:p>
          <a:p>
            <a:r>
              <a:rPr dirty="0"/>
              <a:t>• Decoupled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BF7C-67BE-ED20-6DD6-66FAD409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with a GIF of the workflow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9E2E-3A08-795E-EAFE-2AF5D7788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 request</a:t>
            </a:r>
          </a:p>
          <a:p>
            <a:r>
              <a:rPr lang="en-US" dirty="0"/>
              <a:t>Inject metadata shell script</a:t>
            </a:r>
          </a:p>
          <a:p>
            <a:r>
              <a:rPr lang="en-US" dirty="0"/>
              <a:t>Enriched  manifest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2192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D5F78-492D-FE5B-AF27-C4D1888D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113E-6C07-CC58-35D2-DE3760A3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Gaps II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6216-4526-18A7-90AB-BF9764129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Published image datasets are technically accessible but not operationally usable without costly data transfer and local setup.</a:t>
            </a:r>
          </a:p>
          <a:p>
            <a:endParaRPr lang="en-US" dirty="0"/>
          </a:p>
          <a:p>
            <a:r>
              <a:rPr lang="en-US" dirty="0"/>
              <a:t>Problem: In most repositories (including 4TU.ResearchData):</a:t>
            </a:r>
          </a:p>
          <a:p>
            <a:r>
              <a:rPr lang="en-US" dirty="0"/>
              <a:t>To analyze images, users must: </a:t>
            </a:r>
          </a:p>
          <a:p>
            <a:pPr lvl="1"/>
            <a:r>
              <a:rPr lang="en-US" dirty="0"/>
              <a:t>Discover dataset </a:t>
            </a:r>
          </a:p>
          <a:p>
            <a:pPr lvl="1"/>
            <a:r>
              <a:rPr lang="en-US" dirty="0"/>
              <a:t>Download files (often large, GB–TB scale) </a:t>
            </a:r>
          </a:p>
          <a:p>
            <a:pPr lvl="1"/>
            <a:r>
              <a:rPr lang="en-US" dirty="0"/>
              <a:t>Store locally </a:t>
            </a:r>
          </a:p>
          <a:p>
            <a:pPr lvl="1"/>
            <a:r>
              <a:rPr lang="en-US" dirty="0"/>
              <a:t>Load into tools </a:t>
            </a:r>
          </a:p>
          <a:p>
            <a:r>
              <a:rPr lang="en-US" dirty="0"/>
              <a:t>This is the </a:t>
            </a:r>
            <a:r>
              <a:rPr lang="en-US" b="1" dirty="0"/>
              <a:t>default research workflow</a:t>
            </a:r>
            <a:r>
              <a:rPr lang="en-US" dirty="0"/>
              <a:t>.</a:t>
            </a:r>
          </a:p>
          <a:p>
            <a:r>
              <a:rPr lang="en-US" b="1" dirty="0"/>
              <a:t>Consequences</a:t>
            </a:r>
          </a:p>
          <a:p>
            <a:pPr lvl="1"/>
            <a:r>
              <a:rPr lang="en-US" dirty="0"/>
              <a:t>Storage burden (local copies) </a:t>
            </a:r>
          </a:p>
          <a:p>
            <a:pPr lvl="1"/>
            <a:r>
              <a:rPr lang="en-US" dirty="0"/>
              <a:t>Redundant downloads across users </a:t>
            </a:r>
          </a:p>
          <a:p>
            <a:pPr lvl="1"/>
            <a:r>
              <a:rPr lang="en-US" dirty="0"/>
              <a:t>Barrier to quick exploration or reuse </a:t>
            </a:r>
          </a:p>
          <a:p>
            <a:pPr lvl="1"/>
            <a:r>
              <a:rPr lang="en-US" dirty="0"/>
              <a:t>👉 In practice:</a:t>
            </a:r>
          </a:p>
          <a:p>
            <a:pPr lvl="1"/>
            <a:r>
              <a:rPr lang="en-US" dirty="0"/>
              <a:t>Many datasets are </a:t>
            </a:r>
            <a:r>
              <a:rPr lang="en-US" b="1" dirty="0"/>
              <a:t>never reused</a:t>
            </a:r>
            <a:r>
              <a:rPr lang="en-US" dirty="0"/>
              <a:t> because access is too heavy</a:t>
            </a:r>
          </a:p>
          <a:p>
            <a:r>
              <a:rPr lang="en-US" b="1" dirty="0"/>
              <a:t>Problem: </a:t>
            </a:r>
            <a:r>
              <a:rPr lang="en-US" dirty="0"/>
              <a:t>Scientific images are:</a:t>
            </a:r>
          </a:p>
          <a:p>
            <a:pPr lvl="1"/>
            <a:r>
              <a:rPr lang="en-US" dirty="0"/>
              <a:t>Large </a:t>
            </a:r>
          </a:p>
          <a:p>
            <a:pPr lvl="1"/>
            <a:r>
              <a:rPr lang="en-US" dirty="0"/>
              <a:t>Multi-resolution </a:t>
            </a:r>
          </a:p>
          <a:p>
            <a:pPr lvl="1"/>
            <a:r>
              <a:rPr lang="en-US" dirty="0"/>
              <a:t>Often sparsely used (e.g., small regions of interest) </a:t>
            </a:r>
          </a:p>
          <a:p>
            <a:pPr lvl="1"/>
            <a:r>
              <a:rPr lang="en-US" dirty="0"/>
              <a:t>But current workflows:</a:t>
            </a:r>
          </a:p>
          <a:p>
            <a:pPr lvl="2"/>
            <a:r>
              <a:rPr lang="en-US" dirty="0"/>
              <a:t>Treat them as monolithic files </a:t>
            </a:r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Consequence</a:t>
            </a:r>
          </a:p>
          <a:p>
            <a:pPr lvl="2"/>
            <a:r>
              <a:rPr lang="en-US" dirty="0"/>
              <a:t>Massive over-fetching of data </a:t>
            </a:r>
          </a:p>
          <a:p>
            <a:pPr lvl="2"/>
            <a:r>
              <a:rPr lang="en-US" dirty="0"/>
              <a:t>Inefficient computation </a:t>
            </a:r>
          </a:p>
          <a:p>
            <a:pPr lvl="2"/>
            <a:r>
              <a:rPr lang="en-US" dirty="0"/>
              <a:t>Poor scalability</a:t>
            </a:r>
          </a:p>
          <a:p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055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Use Case 2: IIIF-enabled Image</a:t>
            </a:r>
            <a:r>
              <a:rPr lang="en-US" dirty="0"/>
              <a:t> On the fly</a:t>
            </a:r>
            <a:r>
              <a:rPr dirty="0"/>
              <a:t>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900" dirty="0"/>
              <a:t>Core idea: A streaming, API-driven image analysis model using IIIF</a:t>
            </a:r>
          </a:p>
          <a:p>
            <a:r>
              <a:rPr sz="900" dirty="0"/>
              <a:t>Analyze images without downloading full datasets</a:t>
            </a:r>
          </a:p>
          <a:p>
            <a:r>
              <a:rPr sz="900" dirty="0"/>
              <a:t>Discover images via Presentation API</a:t>
            </a:r>
          </a:p>
          <a:p>
            <a:r>
              <a:rPr sz="900" dirty="0"/>
              <a:t> Request regions via Image API</a:t>
            </a:r>
          </a:p>
          <a:p>
            <a:r>
              <a:rPr sz="900" dirty="0"/>
              <a:t> Load into Python (NumPy, PIL)</a:t>
            </a:r>
          </a:p>
          <a:p>
            <a:endParaRPr sz="900" dirty="0"/>
          </a:p>
          <a:p>
            <a:r>
              <a:rPr sz="900" dirty="0"/>
              <a:t>IIIF enables pixel-level access on demand</a:t>
            </a:r>
            <a:endParaRPr lang="en-US" sz="900" dirty="0"/>
          </a:p>
          <a:p>
            <a:r>
              <a:rPr lang="nl-NL" sz="900" b="1" dirty="0" err="1"/>
              <a:t>Key</a:t>
            </a:r>
            <a:r>
              <a:rPr lang="nl-NL" sz="900" b="1" dirty="0"/>
              <a:t> </a:t>
            </a:r>
            <a:r>
              <a:rPr lang="nl-NL" sz="900" b="1" dirty="0" err="1"/>
              <a:t>capability</a:t>
            </a:r>
            <a:r>
              <a:rPr lang="nl-NL" sz="900" b="1" dirty="0"/>
              <a:t> 1 — </a:t>
            </a:r>
            <a:r>
              <a:rPr lang="nl-NL" sz="900" b="1" dirty="0" err="1"/>
              <a:t>Partial</a:t>
            </a:r>
            <a:r>
              <a:rPr lang="nl-NL" sz="900" b="1" dirty="0"/>
              <a:t> data access</a:t>
            </a:r>
          </a:p>
          <a:p>
            <a:r>
              <a:rPr lang="nl-NL" sz="900" dirty="0"/>
              <a:t>Using IIIF Image API:</a:t>
            </a:r>
          </a:p>
          <a:p>
            <a:r>
              <a:rPr lang="nl-NL" sz="900" dirty="0" err="1"/>
              <a:t>Request</a:t>
            </a:r>
            <a:r>
              <a:rPr lang="nl-NL" sz="900" dirty="0"/>
              <a:t>: </a:t>
            </a:r>
          </a:p>
          <a:p>
            <a:pPr lvl="1"/>
            <a:r>
              <a:rPr lang="nl-NL" sz="800" dirty="0" err="1"/>
              <a:t>thumbnails</a:t>
            </a:r>
            <a:r>
              <a:rPr lang="nl-NL" sz="800" dirty="0"/>
              <a:t> </a:t>
            </a:r>
          </a:p>
          <a:p>
            <a:pPr lvl="1"/>
            <a:r>
              <a:rPr lang="nl-NL" sz="800" dirty="0" err="1"/>
              <a:t>regions</a:t>
            </a:r>
            <a:r>
              <a:rPr lang="nl-NL" sz="800" dirty="0"/>
              <a:t> (</a:t>
            </a:r>
            <a:r>
              <a:rPr lang="nl-NL" sz="800" dirty="0" err="1"/>
              <a:t>xywh</a:t>
            </a:r>
            <a:r>
              <a:rPr lang="nl-NL" sz="800" dirty="0"/>
              <a:t>) </a:t>
            </a:r>
          </a:p>
          <a:p>
            <a:pPr lvl="1"/>
            <a:r>
              <a:rPr lang="nl-NL" sz="800" dirty="0" err="1"/>
              <a:t>downsampled</a:t>
            </a:r>
            <a:r>
              <a:rPr lang="nl-NL" sz="800" dirty="0"/>
              <a:t> images </a:t>
            </a:r>
          </a:p>
          <a:p>
            <a:r>
              <a:rPr lang="nl-NL" sz="900" dirty="0"/>
              <a:t>👉 </a:t>
            </a:r>
            <a:r>
              <a:rPr lang="nl-NL" sz="900" dirty="0" err="1"/>
              <a:t>Only</a:t>
            </a:r>
            <a:r>
              <a:rPr lang="nl-NL" sz="900" dirty="0"/>
              <a:t> </a:t>
            </a:r>
            <a:r>
              <a:rPr lang="nl-NL" sz="900" dirty="0" err="1"/>
              <a:t>retrieve</a:t>
            </a:r>
            <a:r>
              <a:rPr lang="nl-NL" sz="900" dirty="0"/>
              <a:t> </a:t>
            </a:r>
            <a:r>
              <a:rPr lang="nl-NL" sz="900" dirty="0" err="1"/>
              <a:t>what</a:t>
            </a:r>
            <a:r>
              <a:rPr lang="nl-NL" sz="900" dirty="0"/>
              <a:t> is </a:t>
            </a:r>
            <a:r>
              <a:rPr lang="nl-NL" sz="900" dirty="0" err="1"/>
              <a:t>needed</a:t>
            </a:r>
            <a:endParaRPr lang="nl-NL" sz="900" dirty="0"/>
          </a:p>
          <a:p>
            <a:br>
              <a:rPr lang="nl-NL" sz="900" dirty="0"/>
            </a:br>
            <a:endParaRPr lang="nl-NL" sz="900" dirty="0"/>
          </a:p>
          <a:p>
            <a:r>
              <a:rPr lang="nl-NL" sz="900" b="1" dirty="0" err="1"/>
              <a:t>Key</a:t>
            </a:r>
            <a:r>
              <a:rPr lang="nl-NL" sz="900" b="1" dirty="0"/>
              <a:t> </a:t>
            </a:r>
            <a:r>
              <a:rPr lang="nl-NL" sz="900" b="1" dirty="0" err="1"/>
              <a:t>capability</a:t>
            </a:r>
            <a:r>
              <a:rPr lang="nl-NL" sz="900" b="1" dirty="0"/>
              <a:t> 2 — Direct </a:t>
            </a:r>
            <a:r>
              <a:rPr lang="nl-NL" sz="900" b="1" dirty="0" err="1"/>
              <a:t>integration</a:t>
            </a:r>
            <a:r>
              <a:rPr lang="nl-NL" sz="900" b="1" dirty="0"/>
              <a:t> </a:t>
            </a:r>
            <a:r>
              <a:rPr lang="nl-NL" sz="900" b="1" dirty="0" err="1"/>
              <a:t>into</a:t>
            </a:r>
            <a:r>
              <a:rPr lang="nl-NL" sz="900" b="1" dirty="0"/>
              <a:t> analysis </a:t>
            </a:r>
            <a:r>
              <a:rPr lang="nl-NL" sz="900" b="1" dirty="0" err="1"/>
              <a:t>pipelines</a:t>
            </a:r>
            <a:endParaRPr lang="nl-NL" sz="900" b="1" dirty="0"/>
          </a:p>
          <a:p>
            <a:r>
              <a:rPr lang="nl-NL" sz="900" dirty="0" err="1"/>
              <a:t>Fetch</a:t>
            </a:r>
            <a:r>
              <a:rPr lang="nl-NL" sz="900" dirty="0"/>
              <a:t> image → </a:t>
            </a:r>
            <a:r>
              <a:rPr lang="nl-NL" sz="900" dirty="0" err="1"/>
              <a:t>convert</a:t>
            </a:r>
            <a:r>
              <a:rPr lang="nl-NL" sz="900" dirty="0"/>
              <a:t> </a:t>
            </a:r>
            <a:r>
              <a:rPr lang="nl-NL" sz="900" dirty="0" err="1"/>
              <a:t>to</a:t>
            </a:r>
            <a:r>
              <a:rPr lang="nl-NL" sz="900" dirty="0"/>
              <a:t> </a:t>
            </a:r>
            <a:r>
              <a:rPr lang="nl-NL" sz="900" dirty="0" err="1"/>
              <a:t>NumPy</a:t>
            </a:r>
            <a:r>
              <a:rPr lang="nl-NL" sz="900" dirty="0"/>
              <a:t> array → </a:t>
            </a:r>
            <a:r>
              <a:rPr lang="nl-NL" sz="900" dirty="0" err="1"/>
              <a:t>analyze</a:t>
            </a:r>
            <a:r>
              <a:rPr lang="nl-NL" sz="900" dirty="0"/>
              <a:t> </a:t>
            </a:r>
          </a:p>
          <a:p>
            <a:r>
              <a:rPr lang="nl-NL" sz="900" dirty="0"/>
              <a:t>No </a:t>
            </a:r>
            <a:r>
              <a:rPr lang="nl-NL" sz="900" dirty="0" err="1"/>
              <a:t>intermediate</a:t>
            </a:r>
            <a:r>
              <a:rPr lang="nl-NL" sz="900" dirty="0"/>
              <a:t> storage </a:t>
            </a:r>
            <a:r>
              <a:rPr lang="nl-NL" sz="900" dirty="0" err="1"/>
              <a:t>required</a:t>
            </a:r>
            <a:r>
              <a:rPr lang="nl-NL" sz="900" dirty="0"/>
              <a:t> </a:t>
            </a:r>
          </a:p>
          <a:p>
            <a:r>
              <a:rPr lang="nl-NL" sz="900" dirty="0"/>
              <a:t>👉 IIIF </a:t>
            </a:r>
            <a:r>
              <a:rPr lang="nl-NL" sz="900" dirty="0" err="1"/>
              <a:t>becomes</a:t>
            </a:r>
            <a:r>
              <a:rPr lang="nl-NL" sz="900" dirty="0"/>
              <a:t>:</a:t>
            </a:r>
          </a:p>
          <a:p>
            <a:r>
              <a:rPr lang="nl-NL" sz="900" dirty="0"/>
              <a:t>A </a:t>
            </a:r>
            <a:r>
              <a:rPr lang="nl-NL" sz="900" b="1" dirty="0"/>
              <a:t>data access </a:t>
            </a:r>
            <a:r>
              <a:rPr lang="nl-NL" sz="900" b="1" dirty="0" err="1"/>
              <a:t>layer</a:t>
            </a:r>
            <a:r>
              <a:rPr lang="nl-NL" sz="900" b="1" dirty="0"/>
              <a:t> </a:t>
            </a:r>
            <a:r>
              <a:rPr lang="nl-NL" sz="900" b="1" dirty="0" err="1"/>
              <a:t>for</a:t>
            </a:r>
            <a:r>
              <a:rPr lang="nl-NL" sz="900" b="1" dirty="0"/>
              <a:t> </a:t>
            </a:r>
            <a:r>
              <a:rPr lang="nl-NL" sz="900" b="1" dirty="0" err="1"/>
              <a:t>computation</a:t>
            </a:r>
            <a:r>
              <a:rPr lang="nl-NL" sz="900" dirty="0"/>
              <a:t>, </a:t>
            </a:r>
            <a:r>
              <a:rPr lang="nl-NL" sz="900" dirty="0" err="1"/>
              <a:t>not</a:t>
            </a:r>
            <a:r>
              <a:rPr lang="nl-NL" sz="900" dirty="0"/>
              <a:t> </a:t>
            </a:r>
            <a:r>
              <a:rPr lang="nl-NL" sz="900" dirty="0" err="1"/>
              <a:t>just</a:t>
            </a:r>
            <a:r>
              <a:rPr lang="nl-NL" sz="900" dirty="0"/>
              <a:t> </a:t>
            </a:r>
            <a:r>
              <a:rPr lang="nl-NL" sz="900" dirty="0" err="1"/>
              <a:t>viewing</a:t>
            </a:r>
            <a:endParaRPr lang="nl-NL" sz="900" dirty="0"/>
          </a:p>
          <a:p>
            <a:br>
              <a:rPr lang="nl-NL" sz="900" dirty="0"/>
            </a:br>
            <a:endParaRPr lang="nl-NL" sz="900" dirty="0"/>
          </a:p>
          <a:p>
            <a:r>
              <a:rPr lang="nl-NL" sz="900" b="1" dirty="0" err="1"/>
              <a:t>Key</a:t>
            </a:r>
            <a:r>
              <a:rPr lang="nl-NL" sz="900" b="1" dirty="0"/>
              <a:t> </a:t>
            </a:r>
            <a:r>
              <a:rPr lang="nl-NL" sz="900" b="1" dirty="0" err="1"/>
              <a:t>capability</a:t>
            </a:r>
            <a:r>
              <a:rPr lang="nl-NL" sz="900" b="1" dirty="0"/>
              <a:t> 3 — </a:t>
            </a:r>
            <a:r>
              <a:rPr lang="nl-NL" sz="900" b="1" dirty="0" err="1"/>
              <a:t>Elimination</a:t>
            </a:r>
            <a:r>
              <a:rPr lang="nl-NL" sz="900" b="1" dirty="0"/>
              <a:t> of </a:t>
            </a:r>
            <a:r>
              <a:rPr lang="nl-NL" sz="900" b="1" dirty="0" err="1"/>
              <a:t>local</a:t>
            </a:r>
            <a:r>
              <a:rPr lang="nl-NL" sz="900" b="1" dirty="0"/>
              <a:t> </a:t>
            </a:r>
            <a:r>
              <a:rPr lang="nl-NL" sz="900" b="1" dirty="0" err="1"/>
              <a:t>copies</a:t>
            </a:r>
            <a:endParaRPr lang="nl-NL" sz="900" b="1" dirty="0"/>
          </a:p>
          <a:p>
            <a:r>
              <a:rPr lang="nl-NL" sz="900" dirty="0"/>
              <a:t>Analysis </a:t>
            </a:r>
            <a:r>
              <a:rPr lang="nl-NL" sz="900" dirty="0" err="1"/>
              <a:t>happens</a:t>
            </a:r>
            <a:r>
              <a:rPr lang="nl-NL" sz="900" dirty="0"/>
              <a:t>: </a:t>
            </a:r>
          </a:p>
          <a:p>
            <a:pPr lvl="1"/>
            <a:r>
              <a:rPr lang="nl-NL" sz="800" dirty="0"/>
              <a:t>in-memory </a:t>
            </a:r>
          </a:p>
          <a:p>
            <a:pPr lvl="1"/>
            <a:r>
              <a:rPr lang="nl-NL" sz="800" dirty="0"/>
              <a:t>on-</a:t>
            </a:r>
            <a:r>
              <a:rPr lang="nl-NL" sz="800" dirty="0" err="1"/>
              <a:t>demand</a:t>
            </a:r>
            <a:r>
              <a:rPr lang="nl-NL" sz="800" dirty="0"/>
              <a:t> </a:t>
            </a:r>
          </a:p>
          <a:p>
            <a:r>
              <a:rPr lang="nl-NL" sz="900" dirty="0" err="1"/>
              <a:t>This</a:t>
            </a:r>
            <a:r>
              <a:rPr lang="nl-NL" sz="900" dirty="0"/>
              <a:t> </a:t>
            </a:r>
            <a:r>
              <a:rPr lang="nl-NL" sz="900" dirty="0" err="1"/>
              <a:t>enables</a:t>
            </a:r>
            <a:r>
              <a:rPr lang="nl-NL" sz="900" dirty="0"/>
              <a:t>:</a:t>
            </a:r>
          </a:p>
          <a:p>
            <a:r>
              <a:rPr lang="nl-NL" sz="900" dirty="0" err="1"/>
              <a:t>Lightweight</a:t>
            </a:r>
            <a:r>
              <a:rPr lang="nl-NL" sz="900" dirty="0"/>
              <a:t> </a:t>
            </a:r>
            <a:r>
              <a:rPr lang="nl-NL" sz="900" dirty="0" err="1"/>
              <a:t>workflows</a:t>
            </a:r>
            <a:r>
              <a:rPr lang="nl-NL" sz="900" dirty="0"/>
              <a:t> </a:t>
            </a:r>
          </a:p>
          <a:p>
            <a:r>
              <a:rPr lang="nl-NL" sz="900" dirty="0"/>
              <a:t>Cloud-native </a:t>
            </a:r>
            <a:r>
              <a:rPr lang="nl-NL" sz="900" dirty="0" err="1"/>
              <a:t>execution</a:t>
            </a:r>
            <a:r>
              <a:rPr lang="nl-NL" sz="900" dirty="0"/>
              <a:t> (Binder, notebooks)</a:t>
            </a:r>
          </a:p>
          <a:p>
            <a:endParaRPr lang="nl-NL" sz="900" dirty="0"/>
          </a:p>
          <a:p>
            <a:pPr marL="0" indent="0">
              <a:buNone/>
            </a:pPr>
            <a:r>
              <a:rPr lang="en-US" sz="900" dirty="0"/>
              <a:t> core idea: Image data is accessible but not </a:t>
            </a:r>
            <a:r>
              <a:rPr lang="en-US" sz="900" b="1" dirty="0"/>
              <a:t>computationally accessible</a:t>
            </a:r>
            <a:r>
              <a:rPr lang="en-US" sz="900" dirty="0"/>
              <a:t>—IIIF enables analysis without download by turning images into </a:t>
            </a:r>
            <a:r>
              <a:rPr lang="en-US" sz="900" dirty="0" err="1"/>
              <a:t>queryable</a:t>
            </a:r>
            <a:r>
              <a:rPr lang="en-US" sz="900" dirty="0"/>
              <a:t> resources.</a:t>
            </a:r>
            <a:endParaRPr lang="nl-NL" sz="900" dirty="0"/>
          </a:p>
          <a:p>
            <a:endParaRPr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Workflows to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37944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Researcher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1" y="1792224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Service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2" y="1792224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IIIF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792224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request frequency</a:t>
            </a:r>
          </a:p>
          <a:p>
            <a:r>
              <a:t>• Large image sizes</a:t>
            </a:r>
          </a:p>
          <a:p>
            <a:r>
              <a:t>• Dynamic manifest overhead</a:t>
            </a:r>
          </a:p>
          <a:p>
            <a:r>
              <a:t>• API latency</a:t>
            </a:r>
          </a:p>
          <a:p>
            <a:endParaRPr/>
          </a:p>
          <a:p>
            <a:r>
              <a:t>Requires caching and optimized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Service layer (manifest builder, analysis)</a:t>
            </a:r>
          </a:p>
          <a:p>
            <a:r>
              <a:t>• IIIF-optimized image server</a:t>
            </a:r>
          </a:p>
          <a:p>
            <a:r>
              <a:t>• Caching layer</a:t>
            </a:r>
          </a:p>
          <a:p>
            <a:r>
              <a:t>• Compute layer (Python services)</a:t>
            </a:r>
          </a:p>
          <a:p>
            <a:r>
              <a:t>• Metadata mapping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 multi-dimensional data</a:t>
            </a:r>
          </a:p>
          <a:p>
            <a:r>
              <a:t>• Represent analytical derivatives</a:t>
            </a:r>
          </a:p>
          <a:p>
            <a:r>
              <a:t>• Extend metadata support in IIIF</a:t>
            </a:r>
          </a:p>
          <a:p>
            <a:endParaRPr/>
          </a:p>
          <a:p>
            <a:r>
              <a:t>IIIF → computational research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626</Words>
  <Application>Microsoft Office PowerPoint</Application>
  <PresentationFormat>On-screen Show (4:3)</PresentationFormat>
  <Paragraphs>122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IIIF for Researchers in the Natural and Engineering Sciences </vt:lpstr>
      <vt:lpstr>How IIIF is implemented in 4TU.RD</vt:lpstr>
      <vt:lpstr>Existing gaps</vt:lpstr>
      <vt:lpstr>Use Case 1: Enrich Manifests After Deposition</vt:lpstr>
      <vt:lpstr>Demo with a GIF of the workflow</vt:lpstr>
      <vt:lpstr>Existing Gaps II</vt:lpstr>
      <vt:lpstr>Use Case 2: IIIF-enabled Image On the fly Analysis</vt:lpstr>
      <vt:lpstr>From Workflows to Services</vt:lpstr>
      <vt:lpstr>Performance Challenges</vt:lpstr>
      <vt:lpstr>Infrastructure Requirements</vt:lpstr>
      <vt:lpstr>What’s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Leila Iñigo de la Cruz</cp:lastModifiedBy>
  <cp:revision>1</cp:revision>
  <dcterms:created xsi:type="dcterms:W3CDTF">2013-01-27T09:14:16Z</dcterms:created>
  <dcterms:modified xsi:type="dcterms:W3CDTF">2026-04-30T14:42:25Z</dcterms:modified>
  <cp:category/>
</cp:coreProperties>
</file>